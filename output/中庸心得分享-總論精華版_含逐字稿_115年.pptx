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2906" autoAdjust="0"/>
  </p:normalViewPr>
  <p:slideViewPr>
    <p:cSldViewPr snapToGrid="0" snapToObjects="1">
      <p:cViewPr varScale="1">
        <p:scale>
          <a:sx n="40" d="100"/>
          <a:sy n="40" d="100"/>
        </p:scale>
        <p:origin x="1522" y="-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210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t>【封面　約 30 秒】</a:t>
            </a:r>
          </a:p>
          <a:p>
            <a:endParaRPr/>
          </a:p>
          <a:p>
            <a:r>
              <a:t>各位前賢大家好，後學是劉坤翰。今天很高興能有這個機會，和大家分享後學在《中庸》研讀班的學習心得。</a:t>
            </a:r>
          </a:p>
          <a:p>
            <a:endParaRPr/>
          </a:p>
          <a:p>
            <a:r>
              <a:t>《中庸》是儒家修道非常核心的一部經典，今天後學不會講太多生硬的理論，而是想和大家分享《中庸》裡最精華的大方向——也就是「我們該如何在日常生活中，透過一個『誠』字，來守中行道」。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t>【中庸正名解義　約 1 分鐘】</a:t>
            </a:r>
          </a:p>
          <a:p>
            <a:endParaRPr/>
          </a:p>
          <a:p>
            <a:r>
              <a:t>首先，我們要先破除一個常見的迷思：「中庸」並不是我們平常說的「平庸」或者「兩邊討好的折中」。</a:t>
            </a:r>
          </a:p>
          <a:p>
            <a:endParaRPr/>
          </a:p>
          <a:p>
            <a:r>
              <a:t>所謂的「中」，指的是我們的「本體」，也就是不偏不倚、喜怒哀樂還沒有發出來時的那種純淨狀態，這是天下的根本。</a:t>
            </a:r>
          </a:p>
          <a:p>
            <a:endParaRPr/>
          </a:p>
          <a:p>
            <a:r>
              <a:t>而「庸」呢？是指「用」，是我們把這個純淨的本性，落實在日常生活中的行為（達道）。</a:t>
            </a:r>
          </a:p>
          <a:p>
            <a:endParaRPr/>
          </a:p>
          <a:p>
            <a:r>
              <a:t>所以「中庸」合起來，就是「依體起用・守中行道」。就像經典上說的：「放之則彌六合，卷之則退藏於密。」它的道無所不在。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t>【孔門傳授心法　約 40 秒】</a:t>
            </a:r>
          </a:p>
          <a:p>
            <a:endParaRPr/>
          </a:p>
          <a:p>
            <a:r>
              <a:t>關於《中庸》的傳承，朱熹在《中庸章句序》裡有一段很好的註解。程伊川先生說：「不偏之謂中，不易之謂庸。」</a:t>
            </a:r>
          </a:p>
          <a:p>
            <a:endParaRPr/>
          </a:p>
          <a:p>
            <a:r>
              <a:t>這部書的結構非常巧妙：「始言一理，中散為萬事，末復合為一理。」也就是從一個核心真理出發，展開到生活萬事，最後又回歸到一。</a:t>
            </a:r>
          </a:p>
          <a:p>
            <a:endParaRPr/>
          </a:p>
          <a:p>
            <a:r>
              <a:t>而這個道統心法，就是從孔子，傳給了曾子，再傳給孔子的孫子「子思」（也就是中庸的作者），最後再傳給孟子，這是一脈相承的儒家心法。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t>【首章三綱領　約 1 分鐘】</a:t>
            </a:r>
          </a:p>
          <a:p>
            <a:endParaRPr/>
          </a:p>
          <a:p>
            <a:r>
              <a:t>了解了背景後，我們來看《中庸》第一章最重要、最核心的「三綱領」。這三句話可以說是整部書的總起：</a:t>
            </a:r>
          </a:p>
          <a:p>
            <a:endParaRPr/>
          </a:p>
          <a:p>
            <a:r>
              <a:t>第一句「天命之謂性」：上天賦予我們的靈明本性，是純善無惡的。</a:t>
            </a:r>
          </a:p>
          <a:p>
            <a:endParaRPr/>
          </a:p>
          <a:p>
            <a:r>
              <a:t>第二句「率性之謂道」：只要我們能依循著這份純善的天性直道而行，這就是「道」。</a:t>
            </a:r>
          </a:p>
          <a:p>
            <a:endParaRPr/>
          </a:p>
          <a:p>
            <a:r>
              <a:t>第三句「修道之謂教」：如果我們偏離了，就要去修正、品節我們的行為，並立下教化去引導別人。</a:t>
            </a:r>
          </a:p>
          <a:p>
            <a:endParaRPr/>
          </a:p>
          <a:p>
            <a:r>
              <a:t>正如經文所說：「道也者，不可須臾離也。」道，從來沒有離開過我們的日常生活。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t>【戒慎恐懼・慎其獨　約 1.5 分鐘】</a:t>
            </a:r>
          </a:p>
          <a:p>
            <a:endParaRPr/>
          </a:p>
          <a:p>
            <a:r>
              <a:t>既然道離我們這麼近，那我們要怎麼去修呢？中庸給了我們一個非常實用的下手工夫，那就是「戒慎恐懼」與「慎其獨」。</a:t>
            </a:r>
          </a:p>
          <a:p>
            <a:endParaRPr/>
          </a:p>
          <a:p>
            <a:r>
              <a:t>什麼是慎獨？並不是說一個人的時候才要小心，而是「在無人看見、無聲無響，甚至只有一個念頭剛升起的時候」，我們能不能警惕自己？</a:t>
            </a:r>
          </a:p>
          <a:p>
            <a:endParaRPr/>
          </a:p>
          <a:p>
            <a:r>
              <a:t>「修道貴修心，修心貴修念。」起心動念宇宙都會記錄下來。真正的修道工夫，不是在人前做什麼大事，而是在我們內心最隱微的地方，去察覺念頭、降伏心魔。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t>【致中和　約 1 分鐘】</a:t>
            </a:r>
          </a:p>
          <a:p>
            <a:endParaRPr/>
          </a:p>
          <a:p>
            <a:r>
              <a:t>當我們把「慎獨」的工夫做好了，把喜怒哀樂沒有發出來的純淨狀態守住（這叫做「中」）；當情緒發出來的時候，又都能恰到好處、不過度（這叫做「和」）。</a:t>
            </a:r>
          </a:p>
          <a:p>
            <a:endParaRPr/>
          </a:p>
          <a:p>
            <a:r>
              <a:t>達到「致中和」的境界時，會發生什麼事呢？「天地位焉，萬物育焉。」</a:t>
            </a:r>
          </a:p>
          <a:p>
            <a:endParaRPr/>
          </a:p>
          <a:p>
            <a:r>
              <a:t>這意味著，當我們內在和諧了，我們周遭的環境、人事物，天地萬物也都會各安其位、生生不息。這就是從「本體」透過「工夫」所達到最高境界。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t>【中庸核心思想・誠　約 1 分鐘】</a:t>
            </a:r>
          </a:p>
          <a:p>
            <a:endParaRPr/>
          </a:p>
          <a:p>
            <a:r>
              <a:t>說到底，貫穿整部《中庸》的核心思想，其實就是一個字——「誠」。</a:t>
            </a:r>
          </a:p>
          <a:p>
            <a:endParaRPr/>
          </a:p>
          <a:p>
            <a:r>
              <a:t>「誠者，天之道也。」大自然日升月落、四季交替，不勉強就自然運作，這是天的「誠」。</a:t>
            </a:r>
          </a:p>
          <a:p>
            <a:endParaRPr/>
          </a:p>
          <a:p>
            <a:r>
              <a:t>「誠之者，人之道也。」我們凡人雖然沒辦法一開始就像天一樣完美，但我們願意去「努力做到誠」，去擇善固執，這就是我們人的修行之道。</a:t>
            </a:r>
          </a:p>
          <a:p>
            <a:endParaRPr/>
          </a:p>
          <a:p>
            <a:r>
              <a:t>透過這個「誠」字，我們就能真正實現天人合一。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【</a:t>
            </a:r>
            <a:r>
              <a:rPr dirty="0" err="1"/>
              <a:t>感通天地・至誠如神</a:t>
            </a:r>
            <a:r>
              <a:rPr dirty="0"/>
              <a:t>　約 1.5 </a:t>
            </a:r>
            <a:r>
              <a:rPr dirty="0" err="1"/>
              <a:t>分鐘</a:t>
            </a:r>
            <a:r>
              <a:rPr dirty="0"/>
              <a:t>】</a:t>
            </a:r>
          </a:p>
          <a:p>
            <a:endParaRPr dirty="0"/>
          </a:p>
          <a:p>
            <a:r>
              <a:rPr dirty="0" err="1"/>
              <a:t>那麼</a:t>
            </a:r>
            <a:r>
              <a:rPr dirty="0"/>
              <a:t>，「</a:t>
            </a:r>
            <a:r>
              <a:rPr dirty="0" err="1"/>
              <a:t>誠」的力量到底有多大呢</a:t>
            </a:r>
            <a:r>
              <a:rPr dirty="0"/>
              <a:t>？《</a:t>
            </a:r>
            <a:r>
              <a:rPr dirty="0" err="1"/>
              <a:t>中庸》說</a:t>
            </a:r>
            <a:r>
              <a:rPr dirty="0"/>
              <a:t>：「</a:t>
            </a:r>
            <a:r>
              <a:rPr dirty="0" err="1"/>
              <a:t>至誠如神</a:t>
            </a:r>
            <a:r>
              <a:rPr dirty="0"/>
              <a:t>。」</a:t>
            </a:r>
            <a:r>
              <a:rPr dirty="0" err="1"/>
              <a:t>我們來看三個例子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榮格求雨：中國某村大旱，請來求雨師，他在小屋獨居四天，雨就來了。他說</a:t>
            </a:r>
            <a:r>
              <a:rPr dirty="0"/>
              <a:t>：「</a:t>
            </a:r>
            <a:r>
              <a:rPr dirty="0" err="1"/>
              <a:t>你們這裡失去了道，我花了四天讓自己重回道中，雨就自然來了</a:t>
            </a:r>
            <a:r>
              <a:rPr dirty="0"/>
              <a:t>。」</a:t>
            </a:r>
          </a:p>
          <a:p>
            <a:endParaRPr dirty="0"/>
          </a:p>
          <a:p>
            <a:r>
              <a:rPr dirty="0" err="1"/>
              <a:t>師母至誠：崇修堂面臨被查封的危機，大家憂心道務難辦，前去稟報師母。師母雖無法親自交涉，卻發下大願</a:t>
            </a:r>
            <a:r>
              <a:rPr dirty="0"/>
              <a:t>：「</a:t>
            </a:r>
            <a:r>
              <a:rPr dirty="0" err="1"/>
              <a:t>不要關我的徒兒，要關就關我</a:t>
            </a:r>
            <a:r>
              <a:rPr dirty="0"/>
              <a:t>。」</a:t>
            </a:r>
            <a:r>
              <a:rPr dirty="0" err="1"/>
              <a:t>並每天真誠</a:t>
            </a:r>
            <a:r>
              <a:rPr lang="zh-TW" altLang="en-US" dirty="0"/>
              <a:t>一萬</a:t>
            </a:r>
            <a:r>
              <a:rPr dirty="0" err="1"/>
              <a:t>叩首。就這樣，沒有人出面交涉，查封的難關卻莫名不解而解了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生公說法：東晉高僧道生法師被逐出僧團，獨自對著虎丘山的頑石說法，問</a:t>
            </a:r>
            <a:r>
              <a:rPr dirty="0"/>
              <a:t>：「</a:t>
            </a:r>
            <a:r>
              <a:rPr dirty="0" err="1"/>
              <a:t>我說的若是真理，請點頭</a:t>
            </a:r>
            <a:r>
              <a:rPr dirty="0"/>
              <a:t>。」</a:t>
            </a:r>
            <a:r>
              <a:rPr dirty="0" err="1"/>
              <a:t>頑石竟真的點頭了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這就是「精誠所至，金石為開</a:t>
            </a:r>
            <a:r>
              <a:rPr dirty="0"/>
              <a:t>。」</a:t>
            </a:r>
            <a:r>
              <a:rPr dirty="0" err="1"/>
              <a:t>當我們的心真誠到了極點，連天地萬物都會被感動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【返本歸誠・結語　約 1 分鐘】</a:t>
            </a:r>
          </a:p>
          <a:p>
            <a:endParaRPr/>
          </a:p>
          <a:p>
            <a:r>
              <a:t>最後，後學為今天的分享做個總結：</a:t>
            </a:r>
          </a:p>
          <a:p>
            <a:endParaRPr/>
          </a:p>
          <a:p>
            <a:r>
              <a:t>第一：《中庸》絕不是平庸折中，而是「守中行道」。</a:t>
            </a:r>
          </a:p>
          <a:p>
            <a:endParaRPr/>
          </a:p>
          <a:p>
            <a:r>
              <a:t>第二：它的入手工夫在於「慎獨」，在我們起心動念的隱微之處下功夫。</a:t>
            </a:r>
          </a:p>
          <a:p>
            <a:endParaRPr/>
          </a:p>
          <a:p>
            <a:r>
              <a:t>第三：一切的根本都離不開一個「誠」字。誠既是天道的本體，也是我們人修道的工夫。</a:t>
            </a:r>
          </a:p>
          <a:p>
            <a:endParaRPr/>
          </a:p>
          <a:p>
            <a:r>
              <a:t>就像《中庸》裡說的：「道不遠人。人之為道而遠人，不可以為道。」只要我們回到最單純的真誠，道，就在我們身邊。</a:t>
            </a:r>
          </a:p>
          <a:p>
            <a:endParaRPr/>
          </a:p>
          <a:p>
            <a:r>
              <a:t>今天後學就簡單分享到這邊，感謝大家的慈悲聆聽。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06225" y="2171700"/>
            <a:ext cx="7763828" cy="598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40000" b="1" kern="0" spc="-2000" dirty="0">
                <a:solidFill>
                  <a:srgbClr val="C8A000">
                    <a:alpha val="7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庸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838200"/>
            <a:ext cx="587028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1725" dirty="0">
                <a:solidFill>
                  <a:srgbClr val="E6C23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CHUNG YUNG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2241531" y="849630"/>
            <a:ext cx="5393817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kern="0" spc="990" dirty="0" err="1">
                <a:solidFill>
                  <a:srgbClr val="FDF6E3">
                    <a:alpha val="60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中庸心得分享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43000" y="2704147"/>
            <a:ext cx="17602200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500" b="1" kern="0" spc="2700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中庸</a:t>
            </a:r>
            <a:endParaRPr lang="en-US" sz="22500" dirty="0"/>
          </a:p>
        </p:txBody>
      </p:sp>
      <p:sp>
        <p:nvSpPr>
          <p:cNvPr id="6" name="Shape 4"/>
          <p:cNvSpPr/>
          <p:nvPr/>
        </p:nvSpPr>
        <p:spPr>
          <a:xfrm>
            <a:off x="1143000" y="5828348"/>
            <a:ext cx="1333500" cy="47625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6295073"/>
            <a:ext cx="1760220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kern="0" spc="1026" dirty="0">
                <a:solidFill>
                  <a:srgbClr val="FDF6E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儒家修道之學 ・ 以誠立命之道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143000" y="8572500"/>
            <a:ext cx="450624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576" dirty="0">
                <a:solidFill>
                  <a:srgbClr val="E6C23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劉坤翰 分享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651760"/>
            <a:ext cx="16002000" cy="22860"/>
          </a:xfrm>
          <a:prstGeom prst="rect">
            <a:avLst/>
          </a:prstGeom>
          <a:solidFill>
            <a:srgbClr val="C8A00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762000"/>
            <a:ext cx="660082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1155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中・庸 名稱解義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" y="1497330"/>
            <a:ext cx="6600825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75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何謂「中庸」？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15511463" y="1489710"/>
            <a:ext cx="1796891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10500" b="1" dirty="0">
                <a:solidFill>
                  <a:srgbClr val="C8A000">
                    <a:alpha val="22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02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1143000" y="3832860"/>
            <a:ext cx="20955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5000" b="1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中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3429000" y="3122295"/>
            <a:ext cx="5334000" cy="1729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本體 — 天下之大本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29000" y="4326255"/>
            <a:ext cx="516536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480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不偏不倚，喜怒哀樂未發之謂。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9129713" y="2787015"/>
            <a:ext cx="28575" cy="3710940"/>
          </a:xfrm>
          <a:prstGeom prst="rect">
            <a:avLst/>
          </a:prstGeom>
          <a:solidFill>
            <a:srgbClr val="C8A000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844088" y="3832860"/>
            <a:ext cx="20955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5000" b="1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庸</a:t>
            </a:r>
            <a:endParaRPr lang="en-US" sz="15000" dirty="0"/>
          </a:p>
        </p:txBody>
      </p:sp>
      <p:sp>
        <p:nvSpPr>
          <p:cNvPr id="11" name="Text 9"/>
          <p:cNvSpPr/>
          <p:nvPr/>
        </p:nvSpPr>
        <p:spPr>
          <a:xfrm>
            <a:off x="12130088" y="3122295"/>
            <a:ext cx="5165360" cy="1729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用 — 天下之達道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130088" y="4326255"/>
            <a:ext cx="516536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520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率性而行</a:t>
            </a:r>
            <a:r>
              <a:rPr lang="en-US" sz="525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，用中以明道。</a:t>
            </a:r>
            <a:endParaRPr lang="en-US" sz="5250" dirty="0"/>
          </a:p>
        </p:txBody>
      </p:sp>
      <p:sp>
        <p:nvSpPr>
          <p:cNvPr id="13" name="Shape 11"/>
          <p:cNvSpPr/>
          <p:nvPr/>
        </p:nvSpPr>
        <p:spPr>
          <a:xfrm>
            <a:off x="1143000" y="6878955"/>
            <a:ext cx="16002000" cy="15240"/>
          </a:xfrm>
          <a:prstGeom prst="rect">
            <a:avLst/>
          </a:prstGeom>
          <a:solidFill>
            <a:srgbClr val="C8A000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218045"/>
            <a:ext cx="17602200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150" b="1" kern="0" spc="185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中庸 ＝ 依體起用・守中行道</a:t>
            </a:r>
            <a:endParaRPr lang="en-US" sz="6150" dirty="0"/>
          </a:p>
        </p:txBody>
      </p:sp>
      <p:sp>
        <p:nvSpPr>
          <p:cNvPr id="15" name="Text 13"/>
          <p:cNvSpPr/>
          <p:nvPr/>
        </p:nvSpPr>
        <p:spPr>
          <a:xfrm>
            <a:off x="1143000" y="8528685"/>
            <a:ext cx="176022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kern="0" spc="158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「放之則彌六合，卷之則退藏於密。」</a:t>
            </a:r>
            <a:endParaRPr lang="en-US" sz="5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651760"/>
            <a:ext cx="16002000" cy="22860"/>
          </a:xfrm>
          <a:prstGeom prst="rect">
            <a:avLst/>
          </a:prstGeom>
          <a:solidFill>
            <a:srgbClr val="C8A00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762000"/>
            <a:ext cx="565785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1155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朱子章句序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" y="1497330"/>
            <a:ext cx="5657850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75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孔門傳授心法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15512773" y="1489710"/>
            <a:ext cx="1795451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10500" b="1" dirty="0">
                <a:solidFill>
                  <a:srgbClr val="C8A000">
                    <a:alpha val="22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03</a:t>
            </a:r>
            <a:endParaRPr lang="en-US" sz="10500" dirty="0"/>
          </a:p>
        </p:txBody>
      </p:sp>
      <p:sp>
        <p:nvSpPr>
          <p:cNvPr id="6" name="Shape 4"/>
          <p:cNvSpPr/>
          <p:nvPr/>
        </p:nvSpPr>
        <p:spPr>
          <a:xfrm>
            <a:off x="1143000" y="3928110"/>
            <a:ext cx="53340" cy="210693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3928110"/>
            <a:ext cx="17124426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54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「不偏之謂中，不易之謂庸。」</a:t>
            </a:r>
            <a:r>
              <a:rPr lang="en-US" sz="4050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（程子）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77340" y="5101590"/>
            <a:ext cx="17124426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525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「其書始言一理；中散為萬事；末復合為一理。」</a:t>
            </a:r>
            <a:endParaRPr lang="en-US" sz="5250" dirty="0"/>
          </a:p>
        </p:txBody>
      </p:sp>
      <p:sp>
        <p:nvSpPr>
          <p:cNvPr id="9" name="Shape 7"/>
          <p:cNvSpPr/>
          <p:nvPr/>
        </p:nvSpPr>
        <p:spPr>
          <a:xfrm>
            <a:off x="1143000" y="6435090"/>
            <a:ext cx="16002000" cy="1912620"/>
          </a:xfrm>
          <a:prstGeom prst="roundRect">
            <a:avLst>
              <a:gd name="adj" fmla="val 2988"/>
            </a:avLst>
          </a:prstGeom>
          <a:solidFill>
            <a:srgbClr val="4A2C00"/>
          </a:solidFill>
          <a:ln/>
        </p:spPr>
      </p:sp>
      <p:sp>
        <p:nvSpPr>
          <p:cNvPr id="10" name="Text 8"/>
          <p:cNvSpPr/>
          <p:nvPr/>
        </p:nvSpPr>
        <p:spPr>
          <a:xfrm>
            <a:off x="1752600" y="7063740"/>
            <a:ext cx="126492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1080" dirty="0">
                <a:solidFill>
                  <a:srgbClr val="E6C23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傳承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686800" y="6816090"/>
            <a:ext cx="17602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300" b="1" dirty="0">
                <a:solidFill>
                  <a:srgbClr val="FDF6E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孔子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10744200" y="6953250"/>
            <a:ext cx="6858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→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1811000" y="6816090"/>
            <a:ext cx="17602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300" b="1" dirty="0">
                <a:solidFill>
                  <a:srgbClr val="FDF6E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子思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13868400" y="6953250"/>
            <a:ext cx="6858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→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4935200" y="6816090"/>
            <a:ext cx="17602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300" b="1" dirty="0">
                <a:solidFill>
                  <a:srgbClr val="FDF6E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孟子</a:t>
            </a:r>
            <a:endParaRPr lang="en-US" sz="6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651760"/>
            <a:ext cx="16002000" cy="22860"/>
          </a:xfrm>
          <a:prstGeom prst="rect">
            <a:avLst/>
          </a:prstGeom>
          <a:solidFill>
            <a:srgbClr val="C8A00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762000"/>
            <a:ext cx="471487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1155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中庸首章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" y="1497330"/>
            <a:ext cx="4714875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75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首章三綱領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15512773" y="1489710"/>
            <a:ext cx="1795451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10500" b="1" dirty="0">
                <a:solidFill>
                  <a:srgbClr val="C8A000">
                    <a:alpha val="22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04</a:t>
            </a:r>
            <a:endParaRPr lang="en-US" sz="10500" dirty="0"/>
          </a:p>
        </p:txBody>
      </p:sp>
      <p:sp>
        <p:nvSpPr>
          <p:cNvPr id="6" name="Shape 4"/>
          <p:cNvSpPr/>
          <p:nvPr/>
        </p:nvSpPr>
        <p:spPr>
          <a:xfrm>
            <a:off x="1143000" y="3448050"/>
            <a:ext cx="990600" cy="990600"/>
          </a:xfrm>
          <a:prstGeom prst="ellipse">
            <a:avLst/>
          </a:prstGeom>
          <a:solidFill>
            <a:srgbClr val="C8A0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3448050"/>
            <a:ext cx="10668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①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3394710"/>
            <a:ext cx="502920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天命之謂性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467600" y="3463290"/>
            <a:ext cx="58674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上天賦予靈明本性</a:t>
            </a:r>
            <a:endParaRPr lang="en-US" sz="5250" dirty="0"/>
          </a:p>
        </p:txBody>
      </p:sp>
      <p:sp>
        <p:nvSpPr>
          <p:cNvPr id="10" name="Shape 8"/>
          <p:cNvSpPr/>
          <p:nvPr/>
        </p:nvSpPr>
        <p:spPr>
          <a:xfrm>
            <a:off x="1143000" y="4831080"/>
            <a:ext cx="990600" cy="990600"/>
          </a:xfrm>
          <a:prstGeom prst="ellipse">
            <a:avLst/>
          </a:prstGeom>
          <a:solidFill>
            <a:srgbClr val="C8A000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4831080"/>
            <a:ext cx="10668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②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514600" y="4777740"/>
            <a:ext cx="502920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率性之謂道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467600" y="4846320"/>
            <a:ext cx="6600825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依循天性，直道而行</a:t>
            </a:r>
            <a:endParaRPr lang="en-US" sz="5250" dirty="0"/>
          </a:p>
        </p:txBody>
      </p:sp>
      <p:sp>
        <p:nvSpPr>
          <p:cNvPr id="14" name="Shape 12"/>
          <p:cNvSpPr/>
          <p:nvPr/>
        </p:nvSpPr>
        <p:spPr>
          <a:xfrm>
            <a:off x="1143000" y="6214110"/>
            <a:ext cx="990600" cy="990600"/>
          </a:xfrm>
          <a:prstGeom prst="ellipse">
            <a:avLst/>
          </a:prstGeom>
          <a:solidFill>
            <a:srgbClr val="C8A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6214110"/>
            <a:ext cx="10668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③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514600" y="6160770"/>
            <a:ext cx="502920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修道之謂教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7467600" y="6229350"/>
            <a:ext cx="6600825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品節本性，立教化人</a:t>
            </a:r>
            <a:endParaRPr lang="en-US" sz="5250" dirty="0"/>
          </a:p>
        </p:txBody>
      </p:sp>
      <p:sp>
        <p:nvSpPr>
          <p:cNvPr id="18" name="Shape 16"/>
          <p:cNvSpPr/>
          <p:nvPr/>
        </p:nvSpPr>
        <p:spPr>
          <a:xfrm>
            <a:off x="1143000" y="7620000"/>
            <a:ext cx="16002000" cy="15240"/>
          </a:xfrm>
          <a:prstGeom prst="rect">
            <a:avLst/>
          </a:prstGeom>
          <a:solidFill>
            <a:srgbClr val="C8A000">
              <a:alpha val="4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7920990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b="1" kern="0" spc="158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「道也者，不可須臾離也；可離，非道也。」</a:t>
            </a:r>
            <a:endParaRPr lang="en-US" sz="5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651760"/>
            <a:ext cx="16002000" cy="22860"/>
          </a:xfrm>
          <a:prstGeom prst="rect">
            <a:avLst/>
          </a:prstGeom>
          <a:solidFill>
            <a:srgbClr val="C8A00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762000"/>
            <a:ext cx="75438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1155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修道入手工夫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" y="1497330"/>
            <a:ext cx="7543800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75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戒慎恐懼・慎其獨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15511463" y="1489710"/>
            <a:ext cx="1796891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10500" b="1" dirty="0">
                <a:solidFill>
                  <a:srgbClr val="C8A000">
                    <a:alpha val="22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05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1143000" y="3152775"/>
            <a:ext cx="3196590" cy="1251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5550" b="1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戒慎恐懼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4735830" y="3152775"/>
            <a:ext cx="13201650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525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在無人看見、無聲無響時，仍警惕自持。</a:t>
            </a:r>
            <a:endParaRPr lang="en-US" sz="5250" dirty="0"/>
          </a:p>
        </p:txBody>
      </p:sp>
      <p:sp>
        <p:nvSpPr>
          <p:cNvPr id="8" name="Text 6"/>
          <p:cNvSpPr/>
          <p:nvPr/>
        </p:nvSpPr>
        <p:spPr>
          <a:xfrm>
            <a:off x="1143000" y="5309235"/>
            <a:ext cx="2933700" cy="954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5550" b="1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慎其獨</a:t>
            </a:r>
            <a:endParaRPr lang="en-US" sz="5550" dirty="0"/>
          </a:p>
        </p:txBody>
      </p:sp>
      <p:sp>
        <p:nvSpPr>
          <p:cNvPr id="9" name="Text 7"/>
          <p:cNvSpPr/>
          <p:nvPr/>
        </p:nvSpPr>
        <p:spPr>
          <a:xfrm>
            <a:off x="4735830" y="5309235"/>
            <a:ext cx="13935075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525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道在一念之微；修道貴修心，修心貴修念。</a:t>
            </a:r>
            <a:endParaRPr lang="en-US" sz="5250" dirty="0"/>
          </a:p>
        </p:txBody>
      </p:sp>
      <p:sp>
        <p:nvSpPr>
          <p:cNvPr id="10" name="Text 8"/>
          <p:cNvSpPr/>
          <p:nvPr/>
        </p:nvSpPr>
        <p:spPr>
          <a:xfrm>
            <a:off x="1143000" y="6566535"/>
            <a:ext cx="17602200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5250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起心動念皆記於宇宙，工夫在</a:t>
            </a:r>
            <a:r>
              <a:rPr lang="en-US" sz="525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察覺念頭、降伏心魔</a:t>
            </a:r>
            <a:r>
              <a:rPr lang="en-US" sz="5250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。</a:t>
            </a:r>
            <a:endParaRPr lang="en-US" sz="5250" dirty="0"/>
          </a:p>
        </p:txBody>
      </p:sp>
      <p:sp>
        <p:nvSpPr>
          <p:cNvPr id="11" name="Shape 9"/>
          <p:cNvSpPr/>
          <p:nvPr/>
        </p:nvSpPr>
        <p:spPr>
          <a:xfrm>
            <a:off x="1143000" y="7861935"/>
            <a:ext cx="16002000" cy="15240"/>
          </a:xfrm>
          <a:prstGeom prst="rect">
            <a:avLst/>
          </a:prstGeom>
          <a:solidFill>
            <a:srgbClr val="C8A000">
              <a:alpha val="4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81629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b="1" kern="0" spc="158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「莫見乎隱，莫顯乎微，故君子慎其獨也。」</a:t>
            </a:r>
            <a:endParaRPr lang="en-US" sz="5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475667"/>
            <a:ext cx="16002000" cy="22860"/>
          </a:xfrm>
          <a:prstGeom prst="rect">
            <a:avLst/>
          </a:prstGeom>
          <a:solidFill>
            <a:srgbClr val="C8A00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85800"/>
            <a:ext cx="968121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1155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首章結語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" y="1402080"/>
            <a:ext cx="9681210" cy="902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3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致中和・天地位・萬物育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5511463" y="1332667"/>
            <a:ext cx="1796891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10500" b="1" dirty="0">
                <a:solidFill>
                  <a:srgbClr val="C8A000">
                    <a:alpha val="22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06</a:t>
            </a:r>
            <a:endParaRPr lang="en-US" sz="10500" dirty="0"/>
          </a:p>
        </p:txBody>
      </p:sp>
      <p:sp>
        <p:nvSpPr>
          <p:cNvPr id="6" name="Shape 4"/>
          <p:cNvSpPr/>
          <p:nvPr/>
        </p:nvSpPr>
        <p:spPr>
          <a:xfrm>
            <a:off x="1143000" y="3338989"/>
            <a:ext cx="7772400" cy="2327910"/>
          </a:xfrm>
          <a:prstGeom prst="roundRect">
            <a:avLst>
              <a:gd name="adj" fmla="val 2455"/>
            </a:avLst>
          </a:prstGeom>
          <a:solidFill>
            <a:srgbClr val="C8A000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3936206"/>
            <a:ext cx="1466850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500" b="1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中</a:t>
            </a:r>
            <a:endParaRPr lang="en-US" sz="10500" dirty="0"/>
          </a:p>
        </p:txBody>
      </p:sp>
      <p:sp>
        <p:nvSpPr>
          <p:cNvPr id="8" name="Text 6"/>
          <p:cNvSpPr/>
          <p:nvPr/>
        </p:nvSpPr>
        <p:spPr>
          <a:xfrm>
            <a:off x="3181350" y="3605689"/>
            <a:ext cx="440055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喜怒哀樂未發</a:t>
            </a:r>
            <a:endParaRPr lang="en-US" sz="5250" dirty="0"/>
          </a:p>
        </p:txBody>
      </p:sp>
      <p:sp>
        <p:nvSpPr>
          <p:cNvPr id="9" name="Text 7"/>
          <p:cNvSpPr/>
          <p:nvPr/>
        </p:nvSpPr>
        <p:spPr>
          <a:xfrm>
            <a:off x="3181350" y="4661059"/>
            <a:ext cx="440055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天下之大本</a:t>
            </a:r>
            <a:endParaRPr lang="en-US" sz="4050" dirty="0"/>
          </a:p>
        </p:txBody>
      </p:sp>
      <p:sp>
        <p:nvSpPr>
          <p:cNvPr id="10" name="Shape 8"/>
          <p:cNvSpPr/>
          <p:nvPr/>
        </p:nvSpPr>
        <p:spPr>
          <a:xfrm>
            <a:off x="9372600" y="3338989"/>
            <a:ext cx="7772400" cy="2327910"/>
          </a:xfrm>
          <a:prstGeom prst="roundRect">
            <a:avLst>
              <a:gd name="adj" fmla="val 2455"/>
            </a:avLst>
          </a:prstGeom>
          <a:solidFill>
            <a:srgbClr val="C8A000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3936206"/>
            <a:ext cx="1466850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500" b="1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和</a:t>
            </a:r>
            <a:endParaRPr lang="en-US" sz="10500" dirty="0"/>
          </a:p>
        </p:txBody>
      </p:sp>
      <p:sp>
        <p:nvSpPr>
          <p:cNvPr id="12" name="Text 10"/>
          <p:cNvSpPr/>
          <p:nvPr/>
        </p:nvSpPr>
        <p:spPr>
          <a:xfrm>
            <a:off x="11410950" y="3605689"/>
            <a:ext cx="3667125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發而皆中節</a:t>
            </a:r>
            <a:endParaRPr lang="en-US" sz="5250" dirty="0"/>
          </a:p>
        </p:txBody>
      </p:sp>
      <p:sp>
        <p:nvSpPr>
          <p:cNvPr id="13" name="Text 11"/>
          <p:cNvSpPr/>
          <p:nvPr/>
        </p:nvSpPr>
        <p:spPr>
          <a:xfrm>
            <a:off x="11410950" y="4661059"/>
            <a:ext cx="3667125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天下之達道</a:t>
            </a:r>
            <a:endParaRPr lang="en-US" sz="4050" dirty="0"/>
          </a:p>
        </p:txBody>
      </p:sp>
      <p:sp>
        <p:nvSpPr>
          <p:cNvPr id="14" name="Shape 12"/>
          <p:cNvSpPr/>
          <p:nvPr/>
        </p:nvSpPr>
        <p:spPr>
          <a:xfrm>
            <a:off x="1143000" y="5990749"/>
            <a:ext cx="16002000" cy="1562100"/>
          </a:xfrm>
          <a:prstGeom prst="roundRect">
            <a:avLst>
              <a:gd name="adj" fmla="val 3659"/>
            </a:avLst>
          </a:prstGeom>
          <a:solidFill>
            <a:srgbClr val="4A2C00"/>
          </a:solidFill>
          <a:ln/>
        </p:spPr>
      </p:sp>
      <p:sp>
        <p:nvSpPr>
          <p:cNvPr id="15" name="Text 13"/>
          <p:cNvSpPr/>
          <p:nvPr/>
        </p:nvSpPr>
        <p:spPr>
          <a:xfrm>
            <a:off x="2305050" y="6276499"/>
            <a:ext cx="226314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6C23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致中和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743450" y="6470809"/>
            <a:ext cx="1844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FDF6E3">
                    <a:alpha val="70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〔工夫〕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800850" y="6364129"/>
            <a:ext cx="647700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→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7753350" y="6276499"/>
            <a:ext cx="67894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DF6E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天地位焉，萬物育焉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14306550" y="6470809"/>
            <a:ext cx="1844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FDF6E3">
                    <a:alpha val="70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〔境界〕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342900" y="7876699"/>
            <a:ext cx="176022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250" b="1" kern="0" spc="210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首章三層次 本體 → 工夫 → 境界</a:t>
            </a:r>
            <a:endParaRPr lang="en-US" sz="5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2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0" y="2811780"/>
            <a:ext cx="7543800" cy="552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0" b="1" dirty="0">
                <a:solidFill>
                  <a:srgbClr val="C8A000">
                    <a:alpha val="9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誠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762000"/>
            <a:ext cx="176022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1155" dirty="0">
                <a:solidFill>
                  <a:srgbClr val="E6C23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中庸核心思想・體用兼含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" y="1497330"/>
            <a:ext cx="176022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一個「誠」字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2849880" y="3920490"/>
            <a:ext cx="5715000" cy="3810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6" name="Text 4"/>
          <p:cNvSpPr/>
          <p:nvPr/>
        </p:nvSpPr>
        <p:spPr>
          <a:xfrm>
            <a:off x="2849880" y="4301490"/>
            <a:ext cx="628650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900" dirty="0">
                <a:solidFill>
                  <a:srgbClr val="E6C23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天道・本體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49880" y="5166360"/>
            <a:ext cx="588645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6000" b="1" dirty="0">
                <a:solidFill>
                  <a:srgbClr val="FDF6E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誠者，天之道也。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9753600" y="3920490"/>
            <a:ext cx="5715000" cy="3810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4301490"/>
            <a:ext cx="628650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900" dirty="0">
                <a:solidFill>
                  <a:srgbClr val="E6C23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人道・工夫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753600" y="5166360"/>
            <a:ext cx="707136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6000" b="1" dirty="0">
                <a:solidFill>
                  <a:srgbClr val="FDF6E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誠之者，人之道也。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147447" y="8534400"/>
            <a:ext cx="15992987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400" kern="0" spc="324" dirty="0">
                <a:solidFill>
                  <a:srgbClr val="E6C23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誠兼有體用之義 — 透過誠，實現天人合一</a:t>
            </a:r>
            <a:endParaRPr lang="en-US" sz="5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491740"/>
            <a:ext cx="16002000" cy="22860"/>
          </a:xfrm>
          <a:prstGeom prst="rect">
            <a:avLst/>
          </a:prstGeom>
          <a:solidFill>
            <a:srgbClr val="C8A00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85800"/>
            <a:ext cx="622363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1155" dirty="0" err="1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感通天地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" y="1402080"/>
            <a:ext cx="6223635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至誠如神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5511463" y="1348740"/>
            <a:ext cx="1796891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10500" b="1" dirty="0">
                <a:solidFill>
                  <a:srgbClr val="C8A000">
                    <a:alpha val="22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08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1143000" y="2617946"/>
            <a:ext cx="176022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b="1" kern="0" spc="210" dirty="0">
                <a:solidFill>
                  <a:srgbClr val="9A7A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「至誠之道，可以前知。」</a:t>
            </a:r>
            <a:endParaRPr lang="en-US" sz="5250" dirty="0"/>
          </a:p>
        </p:txBody>
      </p:sp>
      <p:sp>
        <p:nvSpPr>
          <p:cNvPr id="7" name="Shape 5"/>
          <p:cNvSpPr/>
          <p:nvPr/>
        </p:nvSpPr>
        <p:spPr>
          <a:xfrm>
            <a:off x="1143000" y="3863816"/>
            <a:ext cx="5105400" cy="4418647"/>
          </a:xfrm>
          <a:prstGeom prst="roundRect">
            <a:avLst>
              <a:gd name="adj" fmla="val 1293"/>
            </a:avLst>
          </a:prstGeom>
          <a:solidFill>
            <a:srgbClr val="FFFFFF"/>
          </a:solidFill>
          <a:ln/>
          <a:effectLst>
            <a:outerShdw blurRad="171450" dist="38100" dir="5400000" algn="bl" rotWithShape="0">
              <a:srgbClr val="4A2C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3863816"/>
            <a:ext cx="5105400" cy="5334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4241006"/>
            <a:ext cx="4861560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榮格求雨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485900" y="5258276"/>
            <a:ext cx="4895088" cy="2738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480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調整自身與道合一，三日而降雨。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6591300" y="3863816"/>
            <a:ext cx="5105400" cy="4418647"/>
          </a:xfrm>
          <a:prstGeom prst="roundRect">
            <a:avLst>
              <a:gd name="adj" fmla="val 1293"/>
            </a:avLst>
          </a:prstGeom>
          <a:solidFill>
            <a:srgbClr val="FFFFFF"/>
          </a:solidFill>
          <a:ln/>
          <a:effectLst>
            <a:outerShdw blurRad="171450" dist="38100" dir="5400000" algn="bl" rotWithShape="0">
              <a:srgbClr val="4A2C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1300" y="3863816"/>
            <a:ext cx="5105400" cy="5334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934200" y="4241006"/>
            <a:ext cx="4861560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師母至誠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934200" y="5258276"/>
            <a:ext cx="4552188" cy="2738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sz="4800" dirty="0" err="1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每日</a:t>
            </a:r>
            <a:r>
              <a:rPr lang="zh-TW" altLang="en-US" sz="480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</a:rPr>
              <a:t>一萬叩首</a:t>
            </a:r>
            <a:r>
              <a:rPr lang="en-US" sz="480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，</a:t>
            </a:r>
            <a:r>
              <a:rPr lang="en-US" sz="4800" dirty="0" err="1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關卡不解而自解</a:t>
            </a:r>
            <a:r>
              <a:rPr lang="en-US" sz="480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。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12039600" y="3863816"/>
            <a:ext cx="5105400" cy="4418647"/>
          </a:xfrm>
          <a:prstGeom prst="roundRect">
            <a:avLst>
              <a:gd name="adj" fmla="val 1293"/>
            </a:avLst>
          </a:prstGeom>
          <a:solidFill>
            <a:srgbClr val="FFFFFF"/>
          </a:solidFill>
          <a:ln/>
          <a:effectLst>
            <a:outerShdw blurRad="171450" dist="38100" dir="5400000" algn="bl" rotWithShape="0">
              <a:srgbClr val="4A2C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039600" y="3863816"/>
            <a:ext cx="5105400" cy="5334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0" y="4241006"/>
            <a:ext cx="4861560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生公說法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2382500" y="5258276"/>
            <a:ext cx="4552188" cy="2738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4800" dirty="0">
                <a:solidFill>
                  <a:srgbClr val="6B4A1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至誠感動天地，頑石點頭。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42900" y="8568214"/>
            <a:ext cx="17602200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550" b="1" kern="0" spc="444" dirty="0">
                <a:solidFill>
                  <a:srgbClr val="4A2C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精誠所至，金石為開</a:t>
            </a:r>
            <a:endParaRPr lang="en-US" sz="5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2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0" y="6953250"/>
            <a:ext cx="6286500" cy="461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0" b="1" dirty="0">
                <a:solidFill>
                  <a:srgbClr val="C8A000">
                    <a:alpha val="7000"/>
                  </a:srgbClr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誠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762000"/>
            <a:ext cx="176022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1155" dirty="0" err="1">
                <a:solidFill>
                  <a:srgbClr val="E6C23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返本歸誠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" y="1497330"/>
            <a:ext cx="1760220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300" b="1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中庸至精要義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143000" y="3186589"/>
            <a:ext cx="176022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4800" dirty="0">
                <a:solidFill>
                  <a:srgbClr val="E6C23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「君子之道，闇然而日章；小人之道，的然而日亡。」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 rot="2700000">
            <a:off x="1143000" y="4485799"/>
            <a:ext cx="171450" cy="17145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4257199"/>
            <a:ext cx="10643569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5250" dirty="0">
                <a:solidFill>
                  <a:srgbClr val="FDF6E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中庸 ＝ 守中行道，非平庸折中。</a:t>
            </a:r>
            <a:endParaRPr lang="en-US" sz="5250" dirty="0"/>
          </a:p>
        </p:txBody>
      </p:sp>
      <p:sp>
        <p:nvSpPr>
          <p:cNvPr id="8" name="Shape 6"/>
          <p:cNvSpPr/>
          <p:nvPr/>
        </p:nvSpPr>
        <p:spPr>
          <a:xfrm rot="2700000">
            <a:off x="1143000" y="5595462"/>
            <a:ext cx="171450" cy="17145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5366861"/>
            <a:ext cx="10643569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5250" dirty="0">
                <a:solidFill>
                  <a:srgbClr val="FDF6E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誠 ＝ 天道本體，亦是人道工夫。</a:t>
            </a:r>
            <a:endParaRPr lang="en-US" sz="5250" dirty="0"/>
          </a:p>
        </p:txBody>
      </p:sp>
      <p:sp>
        <p:nvSpPr>
          <p:cNvPr id="10" name="Shape 8"/>
          <p:cNvSpPr/>
          <p:nvPr/>
        </p:nvSpPr>
        <p:spPr>
          <a:xfrm rot="2700000">
            <a:off x="1143000" y="6705124"/>
            <a:ext cx="171450" cy="171450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6476524"/>
            <a:ext cx="11376993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5250" dirty="0">
                <a:solidFill>
                  <a:srgbClr val="FDF6E3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至誠無息，化育天地 — 終極境界。</a:t>
            </a:r>
            <a:endParaRPr lang="en-US" sz="5250" dirty="0"/>
          </a:p>
        </p:txBody>
      </p:sp>
      <p:sp>
        <p:nvSpPr>
          <p:cNvPr id="12" name="Shape 10"/>
          <p:cNvSpPr/>
          <p:nvPr/>
        </p:nvSpPr>
        <p:spPr>
          <a:xfrm>
            <a:off x="1143000" y="8225790"/>
            <a:ext cx="16002000" cy="22860"/>
          </a:xfrm>
          <a:prstGeom prst="rect">
            <a:avLst/>
          </a:prstGeom>
          <a:solidFill>
            <a:srgbClr val="C8A000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8534400"/>
            <a:ext cx="16475738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216" dirty="0">
                <a:solidFill>
                  <a:srgbClr val="C8A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「道不遠人。人之為道而遠人，不可以為道。」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811</Words>
  <Application>Microsoft Office PowerPoint</Application>
  <PresentationFormat>自訂</PresentationFormat>
  <Paragraphs>189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Noto Serif TC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坤翰 劉</cp:lastModifiedBy>
  <cp:revision>6</cp:revision>
  <dcterms:created xsi:type="dcterms:W3CDTF">2026-06-19T04:21:04Z</dcterms:created>
  <dcterms:modified xsi:type="dcterms:W3CDTF">2026-06-19T05:00:39Z</dcterms:modified>
</cp:coreProperties>
</file>